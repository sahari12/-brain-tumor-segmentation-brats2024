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CC9B"/>
                </a:solidFill>
                <a:latin typeface="Calibri"/>
              </a:rPr>
              <a:t>MULTI-REGION BRAIN TUMOR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7259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2F4F8"/>
                </a:solidFill>
                <a:latin typeface="Calibri"/>
              </a:rPr>
              <a:t>Uncertainty-Aware Glioma Segmentation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2F4F8"/>
                </a:solidFill>
                <a:latin typeface="Calibri"/>
              </a:rPr>
              <a:t>with Monte Carlo Dropout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AA5B4"/>
                </a:solidFill>
                <a:latin typeface="Calibri"/>
              </a:rPr>
              <a:t>BraTS 2024 — Adult Glioma, Post-Treatment (GLI)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526280"/>
            <a:ext cx="1828800" cy="25400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2F4F8"/>
                </a:solidFill>
                <a:latin typeface="Calibri"/>
              </a:rPr>
              <a:t>Sahar Ifrah   ·   Hadas Avraham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A5B4"/>
                </a:solidFill>
                <a:latin typeface="Calibri"/>
              </a:rPr>
              <a:t>3D U-Net  →  Attention U-Net  ·  PyTorch + MONAI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The Problem, and Why Uncertainty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The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Segment adult diffuse gliomas from multi-parametric brain MRI into three clinically-defined sub-regions: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9AA5B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Tumor Core (TC)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9AA5B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Whole Tumor (WT)</a:t>
            </a:r>
          </a:p>
          <a:p>
            <a:pPr lvl="1">
              <a:spcAft>
                <a:spcPts val="600"/>
              </a:spcAft>
            </a:pPr>
            <a:r>
              <a:rPr sz="1500" b="1" i="0">
                <a:solidFill>
                  <a:srgbClr val="9AA5B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Enhancing Tumor (ET)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Post-treatment scans (BraTS 2024 GLI) — surgical cavities, radiation effects, pseudoprogression, not just raw pre-op tumor.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The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A segmentation mask alone doesn't say where the model might be wrong.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Monte Carlo Dropout: keep dropout active at inference, run N stochastic forward passes, and read the spread as a per-voxel uncertainty map.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2F4F8"/>
                </a:solidFill>
                <a:latin typeface="Calibri"/>
              </a:rPr>
              <a:t>Goal: uncertainty that's actually usable — high entropy should mean "look here," not just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43400"/>
            <a:ext cx="11183112" cy="1691640"/>
          </a:xfrm>
          <a:prstGeom prst="roundRect">
            <a:avLst>
              <a:gd name="adj" fmla="val 4000"/>
            </a:avLst>
          </a:prstGeom>
          <a:solidFill>
            <a:srgbClr val="141B28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C9B"/>
                </a:solidFill>
                <a:latin typeface="Calibri"/>
              </a:rPr>
              <a:t>Two model generations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v1 — plain 3D U-Net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established the pipeline + MC Dropout innovation. Mean Dice 0.874.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v2.1 — Attention U-Net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attention-gated skip connections + stronger augmentation, targeting the hardest, smallest regions (ET, NCR). Mean Dice 0.887 — current best.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BraTS 2024 GLI — Multi-Parametric MRI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1,621 training subjects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1,350 base + 271 additional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188 validation subjects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official BraTS val set, no labels released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4 MRI modalities / subject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T1n, T1c, T2w, T2-FLAIR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Pre-registered (SRI24), skull-stripped, 1mm isotropic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no registration/skull-removal needed; verified no NaN/Inf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Label convention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874519"/>
          <a:ext cx="52120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Eval group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Background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Necrotic Core (NCR)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TC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Edema (SNFH)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WT only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Enhancing Tumor (ET)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TC, WT, ET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36499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AA5B4"/>
                </a:solidFill>
                <a:latin typeface="Calibri"/>
              </a:rPr>
              <a:t>Raw label 4 (old-convention ET) remapped to 3 during preprocessing.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11183112" cy="2057400"/>
          </a:xfrm>
          <a:prstGeom prst="roundRect">
            <a:avLst>
              <a:gd name="adj" fmla="val 4000"/>
            </a:avLst>
          </a:prstGeom>
          <a:solidFill>
            <a:srgbClr val="141B28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C9B"/>
                </a:solidFill>
                <a:latin typeface="Calibri"/>
              </a:rPr>
              <a:t>Severe class imbalance  +  preprocessing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Background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98.82% of voxels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Edema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0.816%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Enhancing Tumor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0.356%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Necrotic Core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0.011%  — the rarest class by far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5262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Normalize each modality by its global training-set max → [0, 1]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Remap label 4 → 3 (unify ET convention)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Tight-crop to brain bounding box, then center-crop/pad to 160×208×160 (divisible by 16 for U-Net pooling)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Attention U-Net + Monte Carlo Dropout (v2.1)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720" y="1856254"/>
            <a:ext cx="7101840" cy="3191210"/>
          </a:xfrm>
          <a:prstGeom prst="rect">
            <a:avLst/>
          </a:prstGeom>
          <a:solidFill>
            <a:srgbClr val="000000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2454"/>
            <a:ext cx="6949440" cy="30388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321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AA5B4"/>
                </a:solidFill>
                <a:latin typeface="Calibri"/>
              </a:rPr>
              <a:t>Base topology shown (v1). v2.1 keeps this encoder/decoder/bottleneck shape and adds an attention gate on every skip connection.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50876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4 encoder stages + bottleneck + 4 decoder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ConvBlock = Conv3d 3×3×3 → InstanceNorm3d → LeakyReLU, ×2. Stride-2 DownConv (not MaxPool) for learned downsampling.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Attention gate on every skip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decoder signal + encoder skip combined additively, squashed to a per-voxel sigmoid mask — suppresses background-dominated regions of the skip before it reaches the decoder. Not transformer attention: no Q/K/V, no cross-voxel mixing.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MC Dropout, p=0.15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bottleneck + two deepest decoder blocks only — concentrates stochasticity where the receptive field is largest.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21.8M parameters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attention gates add negligible overhead vs. v1's 21.7M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Loss, Optimization,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Loss &amp;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DiceFocalLoss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γ=2.0, background excluded — focal term concentrates the loss on hard/rare classes (NCR, ET) given the 99% background imbalance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AdamW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lr=2e-4, weight_decay=1e-4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Schedule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5-epoch linear warmup → cosine annealing (T_max=80)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Batch size 1, mixed precision (AMP)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InstanceNorm (not BatchNorm); gradient clipping at max_norm=1.0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Augmentation (train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Independent random flip on each of the 3 spatial axes (p=0.5 each)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Per-modality intensity scale ~U[0.85, 1.15] (p=0.5)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Per-modality intensity shift ~U[-0.10, 0.10] (p=0.5)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Additive Gaussian noise N(0, 0.01) (p=0.20)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Clipped back to [0, 1] after each op — validation never augmented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1874519"/>
          </a:xfrm>
          <a:prstGeom prst="roundRect">
            <a:avLst>
              <a:gd name="adj" fmla="val 4000"/>
            </a:avLst>
          </a:prstGeom>
          <a:solidFill>
            <a:srgbClr val="141B28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C9B"/>
                </a:solidFill>
                <a:latin typeface="Calibri"/>
              </a:rPr>
              <a:t>Persistent validation split  +  training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1,297 train / 324 val subjects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split saved once to val_split.json, reloaded on every run/resume — the held-out set never drifts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7091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Best checkpoint: epoch 108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mean val Dice 0.8870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Early stopping patience=35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training reached epoch 143 (34/35, one short of triggering) before being interrupted — a strong but not fully converged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Deterministic vs. Monte Carlo Dropout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Two inference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Deterministic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standard eval-mode forward pass — one segmentation mask, no uncertainty estimate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MC Dropout (N passes)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force the model into train() mode so Dropout3d layers stay stochastic, but run under torch.no_grad() — no gradients, just noise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Run N stochastic forward passes, keep an online mean of the softmax probabilities (peak memory ≈ 2 volumes, not 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What comes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Mean prediction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argmax of the averaged softmax → the final segmentation, essentially identical Dice to the deterministic pass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Predictive entropy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H = −Σ p̄·log(p̄) computed from the mean prediction — the "entropy of the mean," the standard MC-Dropout uncertainty estimate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0" i="0">
                <a:solidFill>
                  <a:srgbClr val="F2F4F8"/>
                </a:solidFill>
                <a:latin typeface="Calibri"/>
              </a:rPr>
              <a:t>High entropy → the N stochastic passes disagreed → flag for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83112" cy="1874519"/>
          </a:xfrm>
          <a:prstGeom prst="roundRect">
            <a:avLst>
              <a:gd name="adj" fmla="val 4000"/>
            </a:avLst>
          </a:prstGeom>
          <a:solidFill>
            <a:srgbClr val="141B28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C9B"/>
                </a:solidFill>
                <a:latin typeface="Calibri"/>
              </a:rPr>
              <a:t>Why bother, if Dice barely changes?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MC-mean Dice (0.8872) vs. deterministic Dice (0.8870) — essentially identical. That's expected: dropout is placed to generate calibrated uncertainty, not to boost raw accuracy.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The value is the entropy map itself: false positives get ~7× the predictive entropy of true positives (slide 9) — a usable signal for flagging voxels a clinician should double-check, not just a diagnostic curiosity.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QUALITATIVE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MRI, Ground Truth, Prediction, and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720" y="2082848"/>
            <a:ext cx="11335512" cy="2966623"/>
          </a:xfrm>
          <a:prstGeom prst="rect">
            <a:avLst/>
          </a:prstGeom>
          <a:solidFill>
            <a:srgbClr val="000000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ample_01_BraTS-GLI-02385-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9048"/>
            <a:ext cx="11183112" cy="28142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44068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Left to right: raw T1c MRI → ground truth overlay → 20-pass MC-Dropout prediction overlay → entropy map (brighter = more uncertain) → entropy overlaid on the scan.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0" i="0">
                <a:solidFill>
                  <a:srgbClr val="F2F4F8"/>
                </a:solidFill>
                <a:latin typeface="Calibri"/>
              </a:rPr>
              <a:t>Uncertainty concentrates almost exactly on the tumor boundary and the small isolated lesion the model is least sure about — not scattered randomly.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v1 (Plain U-Net) vs. v2.1 (Attention U-Net)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Model — Mode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Dice TC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Dice WT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Dice ET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Dice Mean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HD95 TC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HD95 WT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HD95 ET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HD95 Mean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v1 — plain U-Net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0.8638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0.9087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0.8503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0.8743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5.65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6.11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5.74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5.83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v2.1 — Attention U-Net (det.)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0.8791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0.9206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0.8613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0.8870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4.83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4.87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5.06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4.92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v2.1 — MC Dropout (20 passes)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0.8794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0.9205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0.8616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0.8872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4.81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4.88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5.04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4.91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429000"/>
            <a:ext cx="11183112" cy="2377440"/>
          </a:xfrm>
          <a:prstGeom prst="roundRect">
            <a:avLst>
              <a:gd name="adj" fmla="val 4000"/>
            </a:avLst>
          </a:prstGeom>
          <a:solidFill>
            <a:srgbClr val="141B28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v2.1 improves on every metric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+1.3 pts mean Dice, ~16% lower mean HD95 vs. v1 — same parameter budget (~21.7-21.8M), same evaluation protocol (324-subject holdout).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Biggest relative gain on ET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0.8503 → 0.8613 — exactly the small, hard region attention gates were added to help.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MC Dropout barely moves the point estimate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+0.0002 mean Dice — expected, since dropout here is placed to generate calibrated uncertainty (slide 9), not to boost raw accuracy. The mean prediction and the deterministic pass are essentially the same segmentation.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UNCERTAINTY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Is the Uncertainty Map Actually Useful?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720" y="1581502"/>
            <a:ext cx="7193280" cy="3100635"/>
          </a:xfrm>
          <a:prstGeom prst="rect">
            <a:avLst/>
          </a:prstGeom>
          <a:solidFill>
            <a:srgbClr val="000000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7702"/>
            <a:ext cx="7040880" cy="294823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508760"/>
          <a:ext cx="4023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Mean Entropy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TN (correct bg)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0.0002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TP (correct tumor)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0.0285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FP (false positive)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0.1960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FN (false negative)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0.1112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35204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FP entropy ≈ 6.9× TP entropy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the model flags mistakes with far higher uncertainty — same as v1 (~6×), holds after the attention upgrade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ECE = 0.0080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softmax confidence is well calibrated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AUROC = 0.8956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entropy alone strongly predicts misclassified voxels — usable to flag regions for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AA5B4"/>
                </a:solidFill>
                <a:latin typeface="Calibri"/>
              </a:rPr>
              <a:t>(50 val subjects, brain-mask restricted, for the calibration analysis; entropy-by-region from 10 example subjects, 20 MC passes)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BASELINE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vs. Published, Pretrained BraTS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3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5B4"/>
                </a:solidFill>
                <a:latin typeface="Calibri"/>
              </a:rPr>
              <a:t>Same 324-subject val split, real downloaded checkpoints, adapter pipeline (channel reorder, normalization, sliding-window inference, MC Dropout) — a true head-to-head, not a literature-numbers comparison.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65960"/>
          <a:ext cx="6675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325880"/>
                <a:gridCol w="1325880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Model — Mode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Dice Mean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CC9B"/>
                          </a:solidFill>
                          <a:latin typeface="Calibri"/>
                        </a:rPr>
                        <a:t>HD95 Mean</a:t>
                      </a:r>
                    </a:p>
                  </a:txBody>
                  <a:tcPr marL="101600" marR="101600" marT="50800" marB="50800" anchor="ctr">
                    <a:solidFill>
                      <a:srgbClr val="1C263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v2.1 (ours) — Deterministic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0.8870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4.92</a:t>
                      </a:r>
                    </a:p>
                  </a:txBody>
                  <a:tcPr marL="101600" marR="101600" marT="50800" marB="50800" anchor="ctr">
                    <a:solidFill>
                      <a:srgbClr val="142E2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SegResNet (BraTS 2018, published)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0.5791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18.09</a:t>
                      </a:r>
                    </a:p>
                  </a:txBody>
                  <a:tcPr marL="101600" marR="101600" marT="50800" marB="50800" anchor="ctr">
                    <a:solidFill>
                      <a:srgbClr val="10162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MedNeXt (BraTS 2024 winner, published)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2F4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 anchor="ctr">
                    <a:solidFill>
                      <a:srgbClr val="141B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4048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SegResNet (MONAI bundle, trained on BraTS 2018)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scores far lower on our data (0.58 vs 0.887) — expected: it never saw BraTS 2024's post-treatment scans (surgical cavities, radiation effects, pseudoprogression).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Its MC-dropout uncertainty is also much blunter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FP/TP entropy ratio 2.6× vs. our 6.9× — a model trained on your actual domain gives a sharper uncertainty signal, not just better accuracy.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2F4F8"/>
                </a:solidFill>
                <a:latin typeface="Calibri"/>
              </a:rPr>
              <a:t>MedNeXt  </a:t>
            </a:r>
            <a:r>
              <a:rPr sz="1300" b="0" i="0">
                <a:solidFill>
                  <a:srgbClr val="9AA5B4"/>
                </a:solidFill>
                <a:latin typeface="Calibri"/>
              </a:rPr>
              <a:t>the actual BraTS-winning architecture, trained on real BraTS 2024 data — evaluation running now; two real bugs (axis-order mismatch, a label-remap assumption) were caught and fixed before trusting the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84720" y="2418428"/>
            <a:ext cx="4267200" cy="3209863"/>
          </a:xfrm>
          <a:prstGeom prst="rect">
            <a:avLst/>
          </a:prstGeom>
          <a:solidFill>
            <a:srgbClr val="000000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ntrop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494628"/>
            <a:ext cx="4114800" cy="30574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C9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8"/>
                </a:solidFill>
                <a:latin typeface="Calibri"/>
              </a:rPr>
              <a:t>Where This Lands,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5400"/>
          </a:xfrm>
          <a:prstGeom prst="rect">
            <a:avLst/>
          </a:prstGeom>
          <a:solidFill>
            <a:srgbClr val="2A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What we showed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Attention gates measurably help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v2.1 beats v1 on every metric, with the largest gain on the smallest/hardest region (ET)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MC Dropout uncertainty is genuinely calibrated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ECE 0.008, AUROC 0.896 — not just a visualization, a usable error-flagging signal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We outperform published, pretrained baselines head-to-head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on our own val split, not just on paper — and our uncertainty is sharper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8C42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Training not fully converged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interrupted at epoch 143/300, one epoch short of early stopping — resumable, room for further improvement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MedNeXt comparison in progress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closest domain match of any public checkpoint — will complete the baseline picture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CC9B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F4F8"/>
                </a:solidFill>
                <a:latin typeface="Calibri"/>
              </a:rPr>
              <a:t>Single dataset, internal holdout  </a:t>
            </a:r>
            <a:r>
              <a:rPr sz="1400" b="0" i="0">
                <a:solidFill>
                  <a:srgbClr val="9AA5B4"/>
                </a:solidFill>
                <a:latin typeface="Calibri"/>
              </a:rPr>
              <a:t>BraTS 2024 challenge closed before official leaderboard submission was possible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141B28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2ECC9B"/>
                </a:solidFill>
                <a:latin typeface="Calibri"/>
              </a:rPr>
              <a:t>Bottom line: a better architecture and a genuinely trustworthy uncertainty estimate — not just a higher Dice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BraTS 2024 GLI — Multi-Region Glioma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2F4F8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11880"/>
            <a:ext cx="1828800" cy="25400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9AA5B4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2F4F8"/>
                </a:solidFill>
                <a:latin typeface="Calibri"/>
              </a:rPr>
              <a:t>Sahar Ifrah   ·   Hadas Avraham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