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ualitativ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56" y="3046079"/>
            <a:ext cx="3749039" cy="10401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2331720"/>
            <a:ext cx="109728" cy="8229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498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A38"/>
                </a:solidFill>
                <a:latin typeface="Arial"/>
              </a:rPr>
              <a:t>Uncertainty-Aware Brain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A38"/>
                </a:solidFill>
                <a:latin typeface="Arial"/>
              </a:rPr>
              <a:t>Tumor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Arial"/>
              </a:rPr>
              <a:t>3D Attention U-Net with Monte Carlo Dropout  —  BraTS 2024 GLI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9"/>
                </a:solidFill>
                <a:latin typeface="Arial"/>
              </a:rPr>
              <a:t>Method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8"/>
                </a:solidFill>
                <a:latin typeface="Arial"/>
              </a:rPr>
              <a:t>Sahar Ifrah   ·   Hadas Avraham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Dataset — BraTS 2024 GLI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1,621 training subjects (1,350 core + 271 additional) + 188 official validation subjects (no ground truth released)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4 co-registered MRI modalities per subject: T1, T1c (contrast), T2, T2-FLAIR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Pre-registered to the SRI24 atlas and skull-stripped — 182×218×182 voxels, 1 mm isotropic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Persistent 80/20 split used throughout: 1,297 train / 324 held-out validation</a:t>
            </a:r>
          </a:p>
        </p:txBody>
      </p:sp>
      <p:pic>
        <p:nvPicPr>
          <p:cNvPr id="7" name="Picture 6" descr="data_moda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87915"/>
            <a:ext cx="11064240" cy="25625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Labels &amp;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3 evaluated sub-regions: Tumor Core (TC), Whole Tumor (WT), Enhancing Tumor (ET)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Derived from 4 voxel labels — background, necrotic core, edema, enhancing tumor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Severe imbalance: background is 98.8% of voxels; the smallest tumor class is 0.01%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Preprocessing: max-normalize → crop to brain bbox → resize to 160×208×160</a:t>
            </a:r>
          </a:p>
        </p:txBody>
      </p:sp>
      <p:pic>
        <p:nvPicPr>
          <p:cNvPr id="7" name="Picture 6" descr="chart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5846934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37947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B6B79"/>
                </a:solidFill>
                <a:latin typeface="Arial"/>
              </a:rPr>
              <a:t>Region color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2519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2" y="423367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A38"/>
                </a:solidFill>
                <a:latin typeface="Arial"/>
              </a:rPr>
              <a:t>Necrotic Core (NCR)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8188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48006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A38"/>
                </a:solidFill>
                <a:latin typeface="Arial"/>
              </a:rPr>
              <a:t>Edema (SNFH)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53858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5367528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A38"/>
                </a:solidFill>
                <a:latin typeface="Arial"/>
              </a:rPr>
              <a:t>Enhancing Tumor (ET)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03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3D Attention U-Net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Encoder–decoder: 4 downsampling stages + bottleneck, learned stride-2 convs (not max-pool)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InstanceNorm3D + LeakyReLU throughout · 21.8M parameters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Every skip connection passes through a learned Attention Gate (AG), not a plain concat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MC Dropout in the bottleneck + 2 deepest decoder blocks → enables uncertainty at inference</a:t>
            </a:r>
          </a:p>
        </p:txBody>
      </p:sp>
      <p:pic>
        <p:nvPicPr>
          <p:cNvPr id="7" name="Picture 6" descr="architectu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59" y="3611880"/>
            <a:ext cx="5861402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Attention Gate — Learning Where to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Additive attention (Bahdanau-style), computed independently per voxel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Not transformer self-attention: no Q/K/V, no cross-position mixing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Combines decoder context g + encoder skip x → sigmoid gate ψ ∈ [0,1] → scales the skip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Learned end-to-end from the segmentation loss alone — no extra supervision needed</a:t>
            </a:r>
          </a:p>
        </p:txBody>
      </p:sp>
      <p:pic>
        <p:nvPicPr>
          <p:cNvPr id="7" name="Picture 6" descr="attention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91590"/>
            <a:ext cx="6035040" cy="34748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30368"/>
            <a:ext cx="10149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4360"/>
                </a:solidFill>
                <a:latin typeface="Arial"/>
              </a:rPr>
              <a:t>Why it matters: attention gates suppress background-dominated regions of each skip connection before it reaches the decoder — the biggest gain lands on the smallest, hardest region (Enhancing Tumor Dice 0.850 → 0.861).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Hyperparameter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Batch size 1 (full 160×208×160 volume) → drives InstanceNorm instead of BatchNorm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5-epoch linear warmup before cosine annealing — avoids early destabilization at full LR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Dropout confined to the bottleneck + 2 deepest blocks — uncertainty without hurting fine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880360"/>
          <a:ext cx="10881359" cy="3566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0171"/>
                <a:gridCol w="6311188"/>
              </a:tblGrid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</a:rPr>
                        <a:t>Hyperparameter</a:t>
                      </a:r>
                    </a:p>
                  </a:txBody>
                  <a:tcPr marL="137160" marR="91440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137160" marR="91440" marT="36576" marB="36576" anchor="ctr">
                    <a:solidFill>
                      <a:srgbClr val="2E86C1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Optimizer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AdamW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Learning rate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2e-4 peak, after warmup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Weight decay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1e-4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Batch size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1 (full volume)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LR schedule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5-epoch warmup → cosine (T_max=80)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Loss function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Dice Focal Loss (γ=2.0, background excluded)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Dropout probability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0.15 — bottleneck + dec3 + dec2 only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Gradient clipping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max_norm = 1.0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Early stopping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patience = 35 epochs (max 300)</a:t>
                      </a:r>
                    </a:p>
                  </a:txBody>
                  <a:tcPr marL="137160" marR="91440" marT="36576" marB="36576" anchor="ctr">
                    <a:solidFill>
                      <a:srgbClr val="EAF4FC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B2A38"/>
                          </a:solidFill>
                          <a:latin typeface="Arial"/>
                        </a:rPr>
                        <a:t>Init features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B6B79"/>
                          </a:solidFill>
                          <a:latin typeface="Arial"/>
                        </a:rPr>
                        <a:t>32 (21.8M parameters total)</a:t>
                      </a:r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06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Evaluation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Every reported number reuses the same persistent 324-subject held-out split — no leakage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Region-wise Dice + 95th-percentile Hausdorff Distance (HD95), computed for TC / WT / ET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Two inference modes compared: single deterministic pass vs 20-pass MC Dropout averaging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450" b="0" i="0">
                <a:solidFill>
                  <a:srgbClr val="1B2A38"/>
                </a:solidFill>
                <a:latin typeface="Arial"/>
              </a:rPr>
              <a:t>Published baselines run through the identical split via adapter pipelines — a true head-to-head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4343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4507992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86C1"/>
                </a:solidFill>
                <a:latin typeface="Arial"/>
              </a:rPr>
              <a:t>324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07" y="5394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B6B79"/>
                </a:solidFill>
                <a:latin typeface="Arial"/>
              </a:rPr>
              <a:t>held-out validation subjects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6947" y="4343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6947" y="4507992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86C1"/>
                </a:solidFill>
                <a:latin typeface="Arial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4107" y="5394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B6B79"/>
                </a:solidFill>
                <a:latin typeface="Arial"/>
              </a:rPr>
              <a:t>MC Dropout passes at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4343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4507992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86C1"/>
                </a:solidFill>
                <a:latin typeface="Arial"/>
              </a:rPr>
              <a:t>0.008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5394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B6B79"/>
                </a:solidFill>
                <a:latin typeface="Arial"/>
              </a:rPr>
              <a:t>Expected Calibration Error (ECE)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347" y="4343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347" y="4507992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86C1"/>
                </a:solidFill>
                <a:latin typeface="Arial"/>
              </a:rPr>
              <a:t>0.896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0507" y="5394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B6B79"/>
                </a:solidFill>
                <a:latin typeface="Arial"/>
              </a:rPr>
              <a:t>AUROC — entropy as error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07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Segmentation Accuracy — Attention Gates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v2.1 (Attention U-Net) beats the v1 plain U-Net on every metric and every region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+1.3 pts mean Dice (0.874 → 0.887)   ·   HD95 mean −16% (5.83mm → 4.92mm)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Largest relative gain on Enhancing Tumor — exactly the region attention gates target</a:t>
            </a:r>
          </a:p>
        </p:txBody>
      </p:sp>
      <p:pic>
        <p:nvPicPr>
          <p:cNvPr id="7" name="Picture 6" descr="chart_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578" y="2880360"/>
            <a:ext cx="562036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08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Head-to-Head vs a Published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SegResNet (MONAI's published BraTS bundle, trained on BraTS 2018) evaluated on our identical 324-subject split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Our model scores +0.31 mean Dice higher — a true head-to-head, not a literature-numbers comparison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Expected: SegResNet never saw BraTS 2024 post-treatment scans (surgical cavities, radiation effects)</a:t>
            </a:r>
          </a:p>
        </p:txBody>
      </p:sp>
      <p:pic>
        <p:nvPicPr>
          <p:cNvPr id="7" name="Picture 6" descr="chart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922" y="3063240"/>
            <a:ext cx="5281676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Uncertainty That Flags Its Own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MC Dropout entropy is ~7× higher on false positives than on correct predictions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Well calibrated: voxel confidence tracks empirical accuracy (ECE = 0.008)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▸  </a:t>
            </a:r>
            <a:r>
              <a:rPr sz="1550" b="0" i="0">
                <a:solidFill>
                  <a:srgbClr val="1B2A38"/>
                </a:solidFill>
                <a:latin typeface="Arial"/>
              </a:rPr>
              <a:t>Example subject: Dice TC/WT/ET = 0.97 / 0.95 / 0.94 — entropy concentrates on the prediction's edges</a:t>
            </a:r>
          </a:p>
        </p:txBody>
      </p:sp>
      <p:pic>
        <p:nvPicPr>
          <p:cNvPr id="7" name="Picture 6" descr="qualitativ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20007"/>
            <a:ext cx="11064240" cy="30697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6C1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8"/>
                </a:solidFill>
                <a:latin typeface="Arial"/>
              </a:rP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74520"/>
            <a:ext cx="8229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38"/>
                </a:solidFill>
                <a:latin typeface="Arial"/>
              </a:rPr>
              <a:t>1,621 multi-modal BraTS 2024 GLI subjects, preprocessed to a fixed 160×208×160 grid with a persistent 80/20 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0215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520440"/>
            <a:ext cx="8229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38"/>
                </a:solidFill>
                <a:latin typeface="Arial"/>
              </a:rPr>
              <a:t>3D U-Net with attention-gated skip connections (21.8M params) and MC Dropout for built-in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EAF4FC"/>
          </a:solidFill>
          <a:ln w="1270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4807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Arial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5166360"/>
            <a:ext cx="8229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38"/>
                </a:solidFill>
                <a:latin typeface="Arial"/>
              </a:rPr>
              <a:t>Mean Dice 0.887 / HD95 4.92mm — beats the plain-U-Net baseline and a published model on the same data, with well-calibrated, error-flagging uncertainty.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Arial"/>
              </a:rPr>
              <a:t>11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82296" cy="82296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79"/>
                </a:solidFill>
                <a:latin typeface="Arial"/>
              </a:rPr>
              <a:t>BraTS 2024 GLI — Attention U-Net + MC Dropout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